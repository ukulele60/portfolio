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3" r:id="rId3"/>
    <p:sldId id="257" r:id="rId4"/>
    <p:sldId id="258" r:id="rId5"/>
    <p:sldId id="264" r:id="rId6"/>
    <p:sldId id="259" r:id="rId7"/>
    <p:sldId id="265" r:id="rId8"/>
    <p:sldId id="260" r:id="rId9"/>
    <p:sldId id="261" r:id="rId10"/>
    <p:sldId id="266" r:id="rId11"/>
    <p:sldId id="267" r:id="rId12"/>
    <p:sldId id="268" r:id="rId13"/>
    <p:sldId id="269" r:id="rId14"/>
    <p:sldId id="270" r:id="rId15"/>
    <p:sldId id="277" r:id="rId16"/>
    <p:sldId id="271" r:id="rId17"/>
    <p:sldId id="272" r:id="rId18"/>
    <p:sldId id="273" r:id="rId19"/>
    <p:sldId id="278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857193-1855-4398-BCC9-393A5151BA28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990BF-A98B-4A16-B254-9822FF3C3D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0613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990BF-A98B-4A16-B254-9822FF3C3DD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1497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990BF-A98B-4A16-B254-9822FF3C3DD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25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990BF-A98B-4A16-B254-9822FF3C3DD1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108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CC41E3-CCAD-A7E6-A4DF-E436D3BB9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4B7F4C-A3A3-871F-7857-44D2FF9DB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233E8A-726B-E950-C14D-5F0E1EDD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C86CA5-FE44-B7AA-B783-6873B5D4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DA9FC6-78D8-298D-E9E4-A7AA72DA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641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C6633-30CF-14D5-F7B1-DEAE07280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BE7A31-D775-8E42-18C5-E12F13F3F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4A949E-90DA-B4B3-E283-E8F78064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DE2745-AE01-EB14-1E0E-3433DBBBC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B19427-7C83-EACA-2BF9-E3EE6F443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27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94C6D3-5EFD-03E7-B5B5-0D265738B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EC1C8C-CB0C-A67F-AF1F-2F71A02B9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058D70-9788-2C31-7C47-647B84FEF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C2A339-705A-99EE-D2E6-603909C17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79CCDA-3312-F9D5-DAF3-F39E6130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396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A0D489-A467-50B2-F6F9-8EE533614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B201B3-21C0-D884-D9D1-8AA149FEB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1F3C3D-D6BF-BE45-F4D7-B36185764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78A298-4099-E3E2-5ABB-A71D6769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B4D3F19-7E1C-A653-F93C-606B75D46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E1BEB4B-25FE-4CB0-6CE4-4375228FE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361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F1B91E-B2B0-FD17-2256-DFEE7308D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AEAC4A-3723-3931-5CEE-4C0CC9AF6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24D84D-E134-8D49-B792-9B50E00797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D18A485-8553-2F10-CF60-E438CEB44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13E46C-0F98-4895-FF00-B17F22191C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C8B4622-3D2E-89FF-5E94-FE7640150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3DE7325-0AD5-3630-9091-33A9C21E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5831EF-D6CE-8B9F-ED42-697216111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83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76788A-9C35-F30B-25C7-9C2A86D74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D205CB7-4009-F8EB-0FD7-240D11023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5AE5E4-DD9D-344D-39CC-C02E3ED49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47F360-58E2-BBCE-4A5E-307A5766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920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04AD418-35F4-EAEC-90E5-A4D49D5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7D1A0E-B2CE-4FA8-E676-A4BB9D784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74A17F-D9D5-1425-1277-503CE776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487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E8664-B959-AF47-06BA-EEC4BA41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15BE56-DC24-BD63-BBC9-13A8BDCF5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16803C-AA9A-9D45-7198-7367444DE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F109FF-61FA-1692-918C-90438A408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50A1B1-7EEF-3E98-85A9-753D2BAA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54197D-2FE3-3641-9D2D-203521F6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106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76B90-062C-4584-5D12-E05A4BA5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17E484D-4ECF-13F0-DAA7-82D6CE6C2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E81B13-C4D9-F692-2ADC-48E987BD1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8731EE-10ED-FE9A-3A8F-CC3FA678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EE23BDB-DC4A-CEF3-AFBE-5AA02D89D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AE620F-2E61-4E9F-91B2-75BA8E2A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3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A43A8F-5E44-0005-1C2C-682A9BA2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53CD6C5-A7C5-E92C-9EEF-45CAA33AD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5DF7A2-A4CB-A0A8-88F0-9890CF6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1F8DB0-F15C-7DB7-8D89-DA98F3A2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F0EB14-6C64-D8A6-A417-F2FECDD1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397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29AA478-36F1-9CC5-E213-C641ACA722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E0F384-8B81-207F-4811-6BF239837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FC5EE68-C64F-09FB-C19B-47A220C0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9C8845-175E-5B8F-4D98-187D58DF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D90CAF-F264-66DF-25AD-679C5D542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1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AE50D8A-CEF6-C854-F099-6F2D1CB1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CA3E8E-F97C-8CC5-B1E9-08AC8F815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55B442-41B5-BA48-4F35-F5CFFA69F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17F6A-A9C0-4C70-B658-33BAA1F368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5E97D1-A60D-4163-781E-5527A23303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180DAE-7AC8-396D-0703-C7C7EDE09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A3369-A754-47D2-A3B2-B4034C99BB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92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cademia.edu/3605623/La_m%C3%A9thode_des_parcours_comment%C3%A9s" TargetMode="Externa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.jpe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xperience.arcgis.com/experience/188454837bb1404b92fd100f97327723?draft=tru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F2F6BD1F-9233-AAD9-4984-2217D4E1F4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06" y="542086"/>
            <a:ext cx="2562609" cy="342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A934BFE-0F95-1BFC-13E8-8D17793CAF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286" y="949413"/>
            <a:ext cx="3154587" cy="236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F805664-D27F-5A20-2AAB-45103887F3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287" y="3517957"/>
            <a:ext cx="3154588" cy="1773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76AFC04-3F34-236A-F898-96017AE2C6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005" y="4174483"/>
            <a:ext cx="2562609" cy="191755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D2D6E63-FB09-03FC-C6E4-0011A34991FB}"/>
              </a:ext>
            </a:extLst>
          </p:cNvPr>
          <p:cNvSpPr txBox="1"/>
          <p:nvPr/>
        </p:nvSpPr>
        <p:spPr>
          <a:xfrm>
            <a:off x="7551560" y="1597766"/>
            <a:ext cx="3692434" cy="2368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2800" b="1" kern="1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oper Black" panose="0208090404030B0204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Percevoir une zone commerciale à hauteur de piéton : le cas de la Patte d’Oie d’Herblay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37275E2-1EFD-435B-F44C-5BE522515CDA}"/>
              </a:ext>
            </a:extLst>
          </p:cNvPr>
          <p:cNvSpPr txBox="1"/>
          <p:nvPr/>
        </p:nvSpPr>
        <p:spPr>
          <a:xfrm rot="16200000">
            <a:off x="-2215436" y="3088570"/>
            <a:ext cx="5920375" cy="2154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Photographies personnelles prises le long du Boulevard Bordier et du Boulevard du Havre entre novembre et décembre 2024</a:t>
            </a:r>
          </a:p>
        </p:txBody>
      </p:sp>
      <p:pic>
        <p:nvPicPr>
          <p:cNvPr id="1026" name="Picture 2" descr="CY Cergy Paris Université – DAEU">
            <a:extLst>
              <a:ext uri="{FF2B5EF4-FFF2-40B4-BE49-F238E27FC236}">
                <a16:creationId xmlns:a16="http://schemas.microsoft.com/office/drawing/2014/main" id="{E2A2E590-5777-B632-6A09-090374A7C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2046" y="236104"/>
            <a:ext cx="2216196" cy="73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F674460A-F7DB-E301-5CEF-F37B11342DF0}"/>
              </a:ext>
            </a:extLst>
          </p:cNvPr>
          <p:cNvSpPr txBox="1"/>
          <p:nvPr/>
        </p:nvSpPr>
        <p:spPr>
          <a:xfrm>
            <a:off x="7667762" y="4491603"/>
            <a:ext cx="34528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Léontine Grillon</a:t>
            </a:r>
          </a:p>
          <a:p>
            <a:pPr algn="ctr"/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 Novembre 2025 </a:t>
            </a:r>
          </a:p>
          <a:p>
            <a:pPr algn="ctr"/>
            <a:endParaRPr lang="fr-F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 Cergy Paris Université </a:t>
            </a:r>
          </a:p>
          <a:p>
            <a:pPr algn="ctr"/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Géomatique appliquée aux études urbaines et aux risques </a:t>
            </a:r>
          </a:p>
        </p:txBody>
      </p:sp>
      <p:pic>
        <p:nvPicPr>
          <p:cNvPr id="12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6D659103-A2DF-4A4D-8948-810181F8C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471" y="137834"/>
            <a:ext cx="941389" cy="94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384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E5A3A1-21AE-D29B-E6BD-83C06B93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348" y="352107"/>
            <a:ext cx="10515600" cy="860424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Cooper Black" panose="0208090404030B020404" pitchFamily="18" charset="0"/>
              </a:rPr>
              <a:t>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8DCB37-5E6C-F274-D1CA-65EAB06CB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5008" y="1636066"/>
            <a:ext cx="10421984" cy="4351338"/>
          </a:xfrm>
        </p:spPr>
        <p:txBody>
          <a:bodyPr>
            <a:normAutofit fontScale="92500" lnSpcReduction="20000"/>
          </a:bodyPr>
          <a:lstStyle/>
          <a:p>
            <a:r>
              <a:rPr lang="fr-FR" sz="2400" b="1" dirty="0"/>
              <a:t>Étudiante</a:t>
            </a:r>
            <a:r>
              <a:rPr lang="fr-FR" sz="2400" dirty="0"/>
              <a:t> : Master Géomatique appliquée aux études urbaines et aux risques à CY Cergy Paris Université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/>
              <a:t>Représenter, gérer et produire de l’information géographique avec des outils variés 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600" dirty="0"/>
              <a:t>Produire de l’information géographique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600" dirty="0"/>
              <a:t>Gérer des données géographiques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600" dirty="0"/>
              <a:t>Maîtriser les logiciels SIG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fr-FR" sz="1600" dirty="0"/>
              <a:t>Cartographier</a:t>
            </a:r>
          </a:p>
          <a:p>
            <a:pPr marL="914400" lvl="2" indent="0">
              <a:buNone/>
            </a:pPr>
            <a:endParaRPr lang="fr-FR" sz="2000" dirty="0"/>
          </a:p>
          <a:p>
            <a:r>
              <a:rPr lang="fr-FR" sz="2400" b="1" dirty="0"/>
              <a:t>Salariée</a:t>
            </a:r>
            <a:r>
              <a:rPr lang="fr-FR" sz="2400" dirty="0"/>
              <a:t> : contrat en apprentissage avec l’Institut national de l'information géographique et forestière (IGN)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Val d’Oisienne et </a:t>
            </a:r>
            <a:r>
              <a:rPr lang="fr-FR" sz="2400" b="1" dirty="0"/>
              <a:t>habitante du Val Parisis</a:t>
            </a:r>
            <a:r>
              <a:rPr lang="fr-FR" sz="2400" dirty="0"/>
              <a:t>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/>
              <a:t>Saint-Leu-La-Forêt (pendant 22 ans)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/>
              <a:t>Ermont (depuis 1 ans)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000" dirty="0"/>
              <a:t>Usagère de la Patte d’Oie d’Herblay depuis plus de 10 ans</a:t>
            </a:r>
          </a:p>
        </p:txBody>
      </p:sp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84D21599-EDAB-CAA3-16B9-E24C8240D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67D52D65-C737-4621-A8EA-F1B1A2918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48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EB8A98-5066-B008-7CA7-49765607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97" y="159699"/>
            <a:ext cx="10515600" cy="1059501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Cooper Black" panose="0208090404030B020404" pitchFamily="18" charset="0"/>
              </a:rPr>
              <a:t>Contexte de l’enquête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909E9C-BD08-E818-1E76-BFF67D3B1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776" y="1394595"/>
            <a:ext cx="10742024" cy="480218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sz="2600" dirty="0">
                <a:solidFill>
                  <a:schemeClr val="accent1"/>
                </a:solidFill>
              </a:rPr>
              <a:t>Demande initiale : cours de méthodes qualitatives </a:t>
            </a:r>
          </a:p>
          <a:p>
            <a:pPr lvl="1">
              <a:buFontTx/>
              <a:buChar char="-"/>
            </a:pPr>
            <a:r>
              <a:rPr lang="fr-FR" sz="1800" dirty="0">
                <a:solidFill>
                  <a:schemeClr val="accent1"/>
                </a:solidFill>
              </a:rPr>
              <a:t>Réaliser une enquête mêlant plusieurs méthodes de production de données, dont au moins une méthode qualitative</a:t>
            </a:r>
          </a:p>
          <a:p>
            <a:pPr lvl="1">
              <a:buFontTx/>
              <a:buChar char="-"/>
            </a:pPr>
            <a:r>
              <a:rPr lang="fr-FR" sz="1800" dirty="0">
                <a:solidFill>
                  <a:schemeClr val="accent1"/>
                </a:solidFill>
              </a:rPr>
              <a:t>Réaliser une carte de synthèse </a:t>
            </a:r>
          </a:p>
          <a:p>
            <a:pPr lvl="1">
              <a:buFontTx/>
              <a:buChar char="-"/>
            </a:pPr>
            <a:r>
              <a:rPr lang="fr-FR" sz="1800" dirty="0">
                <a:solidFill>
                  <a:schemeClr val="accent1"/>
                </a:solidFill>
              </a:rPr>
              <a:t>Choix du terrain libre</a:t>
            </a:r>
          </a:p>
          <a:p>
            <a:pPr marL="457200" lvl="1" indent="0">
              <a:buNone/>
            </a:pPr>
            <a:endParaRPr lang="fr-FR" sz="1800" dirty="0"/>
          </a:p>
          <a:p>
            <a:r>
              <a:rPr lang="fr-FR" sz="2600" dirty="0"/>
              <a:t>Constat 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800" dirty="0"/>
              <a:t>Les zones commerciales périphériques, souvent critiquées (ex. : « la France moche » de </a:t>
            </a:r>
            <a:r>
              <a:rPr lang="fr-FR" sz="1800" i="1" dirty="0"/>
              <a:t>Télérama</a:t>
            </a:r>
            <a:r>
              <a:rPr lang="fr-FR" sz="1800" dirty="0"/>
              <a:t>, 2010), sont devenues centrales dans la consommation et la vie urbaine.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800" dirty="0"/>
              <a:t>Elles constituent de </a:t>
            </a:r>
            <a:r>
              <a:rPr lang="fr-FR" sz="1800" b="1" dirty="0"/>
              <a:t>nouvelles centralités</a:t>
            </a:r>
            <a:r>
              <a:rPr lang="fr-FR" sz="1800" dirty="0"/>
              <a:t>, mais très souvent pensées pour des usagers </a:t>
            </a:r>
            <a:r>
              <a:rPr lang="fr-FR" sz="1800" b="1" dirty="0"/>
              <a:t>automobilistes</a:t>
            </a:r>
            <a:r>
              <a:rPr lang="fr-FR" sz="1800" dirty="0"/>
              <a:t> (J. </a:t>
            </a:r>
            <a:r>
              <a:rPr lang="fr-FR" sz="1800" dirty="0" err="1"/>
              <a:t>Broomberg</a:t>
            </a:r>
            <a:r>
              <a:rPr lang="fr-FR" sz="1800" dirty="0"/>
              <a:t>, 2011).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sz="2600" dirty="0"/>
              <a:t>Question de recherche 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900" dirty="0"/>
              <a:t>Comment les </a:t>
            </a:r>
            <a:r>
              <a:rPr lang="fr-FR" sz="1900" b="1" dirty="0"/>
              <a:t>piétons</a:t>
            </a:r>
            <a:r>
              <a:rPr lang="fr-FR" sz="1900" dirty="0"/>
              <a:t> s’adaptent-ils à ces espaces conçus pour l’</a:t>
            </a:r>
            <a:r>
              <a:rPr lang="fr-FR" sz="1900" b="1" dirty="0"/>
              <a:t>automobile</a:t>
            </a:r>
            <a:r>
              <a:rPr lang="fr-FR" sz="1900" dirty="0"/>
              <a:t> ?</a:t>
            </a:r>
          </a:p>
          <a:p>
            <a:pPr marL="457200" lvl="1" indent="0">
              <a:buNone/>
            </a:pPr>
            <a:endParaRPr lang="fr-FR" sz="1900" dirty="0"/>
          </a:p>
          <a:p>
            <a:r>
              <a:rPr lang="fr-FR" sz="2600" dirty="0"/>
              <a:t>Terrain choisi 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800" dirty="0"/>
              <a:t>Patte d’Oie d’Herblay (Val d’Oise)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800" dirty="0"/>
              <a:t>Zone dynamique et attractive (Val Parisis) en termes d’emplois et de consommations.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1800" dirty="0"/>
              <a:t>Marquée par un trafic automobile intense, de nombreux parkings, s’étalant sur environ 3.5 km (de Franconville à Pierrelaye)</a:t>
            </a:r>
          </a:p>
        </p:txBody>
      </p:sp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07981DA4-DBE5-89CE-55F9-A2AD71C90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72A472BD-B7B1-4BE8-A2AD-CEBB93EF8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51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B1487B95-463F-B261-FD74-BD60CF2EB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3C58548-8CC7-FCFB-0609-C45592DDA7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322" y="1045931"/>
            <a:ext cx="7729004" cy="546706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DEF793F-8AE0-DFE0-DC0A-02D32AA6C570}"/>
              </a:ext>
            </a:extLst>
          </p:cNvPr>
          <p:cNvSpPr txBox="1"/>
          <p:nvPr/>
        </p:nvSpPr>
        <p:spPr>
          <a:xfrm>
            <a:off x="372312" y="2828835"/>
            <a:ext cx="249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1. Questionnaire</a:t>
            </a:r>
          </a:p>
          <a:p>
            <a:endParaRPr lang="fr-FR" dirty="0"/>
          </a:p>
          <a:p>
            <a:r>
              <a:rPr lang="fr-FR" dirty="0"/>
              <a:t>2. Parcours commentés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8EC1AEBB-9106-CE0E-B18E-496A5EB0B8CC}"/>
              </a:ext>
            </a:extLst>
          </p:cNvPr>
          <p:cNvSpPr txBox="1">
            <a:spLocks/>
          </p:cNvSpPr>
          <p:nvPr/>
        </p:nvSpPr>
        <p:spPr>
          <a:xfrm>
            <a:off x="302726" y="249484"/>
            <a:ext cx="10515600" cy="706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latin typeface="Cooper Black" panose="0208090404030B020404" pitchFamily="18" charset="0"/>
              </a:rPr>
              <a:t>Méthodes : quantitative et qualitative</a:t>
            </a:r>
          </a:p>
        </p:txBody>
      </p:sp>
      <p:pic>
        <p:nvPicPr>
          <p:cNvPr id="8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89FC7542-5F13-463F-A59C-7053F7762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82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2916-A671-0143-9CB6-C588AEEC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53E2E7-060D-3CC7-60A5-B7C76CA31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26" y="249484"/>
            <a:ext cx="10515600" cy="706662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Cooper Black" panose="0208090404030B020404" pitchFamily="18" charset="0"/>
              </a:rPr>
              <a:t>Méthodes : le questionnaire</a:t>
            </a:r>
          </a:p>
        </p:txBody>
      </p:sp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BD3F6F9A-E11A-AB27-58EF-8C3165141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3EB90B3-2418-CFD2-A83A-B1D5FED9E7B4}"/>
              </a:ext>
            </a:extLst>
          </p:cNvPr>
          <p:cNvSpPr txBox="1"/>
          <p:nvPr/>
        </p:nvSpPr>
        <p:spPr>
          <a:xfrm>
            <a:off x="692623" y="1298586"/>
            <a:ext cx="2943751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200 participations au total</a:t>
            </a:r>
          </a:p>
          <a:p>
            <a:r>
              <a:rPr lang="fr-FR" b="1" dirty="0"/>
              <a:t>147 réponses complètes</a:t>
            </a:r>
          </a:p>
          <a:p>
            <a:endParaRPr lang="fr-FR" sz="1600" dirty="0"/>
          </a:p>
          <a:p>
            <a:r>
              <a:rPr lang="fr-FR" sz="1600" dirty="0"/>
              <a:t>Questionnaire en ligne </a:t>
            </a:r>
            <a:r>
              <a:rPr lang="fr-FR" sz="1600" dirty="0" err="1"/>
              <a:t>limesurvey</a:t>
            </a:r>
            <a:r>
              <a:rPr lang="fr-FR" sz="1600" dirty="0"/>
              <a:t> partagé via différents canaux entre octobre et décembre 2024 : </a:t>
            </a:r>
          </a:p>
          <a:p>
            <a:endParaRPr lang="fr-FR" sz="1600" dirty="0"/>
          </a:p>
          <a:p>
            <a:pPr marL="285750" indent="-285750">
              <a:buFontTx/>
              <a:buChar char="-"/>
            </a:pPr>
            <a:r>
              <a:rPr lang="fr-FR" sz="1600" dirty="0"/>
              <a:t>Dans plusieurs groupes Facebook d’habitants de Montigny-lès-Cormeilles, Herblay-sur-Seine, Franconville et Pierrelaye (environ 180 réponses)</a:t>
            </a:r>
          </a:p>
          <a:p>
            <a:pPr marL="285750" indent="-285750">
              <a:buFontTx/>
              <a:buChar char="-"/>
            </a:pPr>
            <a:endParaRPr lang="fr-FR" sz="1600" dirty="0"/>
          </a:p>
          <a:p>
            <a:pPr marL="285750" indent="-285750">
              <a:buFontTx/>
              <a:buChar char="-"/>
            </a:pPr>
            <a:r>
              <a:rPr lang="fr-FR" sz="1600" dirty="0"/>
              <a:t>Via des contacts personnels de personnes connaissant la Patte d’Oie (environ 20 réponses), surtout des habitants de Saint-Leu-La-Forêt et Franconville</a:t>
            </a:r>
          </a:p>
          <a:p>
            <a:endParaRPr lang="fr-FR" sz="16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F04883D-2F7E-54D4-B9A2-93537F92524F}"/>
              </a:ext>
            </a:extLst>
          </p:cNvPr>
          <p:cNvSpPr txBox="1"/>
          <p:nvPr/>
        </p:nvSpPr>
        <p:spPr>
          <a:xfrm>
            <a:off x="5690023" y="914324"/>
            <a:ext cx="6280626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b="1" dirty="0"/>
          </a:p>
          <a:p>
            <a:endParaRPr lang="fr-FR" sz="1200" dirty="0"/>
          </a:p>
          <a:p>
            <a:r>
              <a:rPr lang="fr-FR" sz="1200" dirty="0">
                <a:solidFill>
                  <a:schemeClr val="accent2"/>
                </a:solidFill>
              </a:rPr>
              <a:t>1. À quelle fréquence vous rendez-vous à la Patte d’Oie d’Herblay ? (choix unique)</a:t>
            </a:r>
          </a:p>
          <a:p>
            <a:r>
              <a:rPr lang="fr-FR" sz="1200" dirty="0">
                <a:solidFill>
                  <a:schemeClr val="accent2"/>
                </a:solidFill>
              </a:rPr>
              <a:t>2. Lorsque vous allez à la Patte d’Oie, c’est principalement pour : (plusieurs réponses possibles : faire des achats, lieu de passage, etc.)</a:t>
            </a:r>
          </a:p>
          <a:p>
            <a:r>
              <a:rPr lang="fr-FR" sz="1200" dirty="0">
                <a:solidFill>
                  <a:schemeClr val="accent2"/>
                </a:solidFill>
              </a:rPr>
              <a:t>3. Vous êtes-vous déjà déplacé(e) à pied sur une partie des boulevards de la Patte d'Oie ? (oui/non)</a:t>
            </a:r>
          </a:p>
          <a:p>
            <a:r>
              <a:rPr lang="fr-FR" sz="1200" dirty="0">
                <a:solidFill>
                  <a:schemeClr val="accent2"/>
                </a:solidFill>
              </a:rPr>
              <a:t>4. Si non, pourquoi ne marchez-vous pas sur les boulevards de la zone commerciale de la Patte d’Oie ? (choix multiples)</a:t>
            </a:r>
          </a:p>
          <a:p>
            <a:r>
              <a:rPr lang="fr-FR" sz="1200" dirty="0">
                <a:solidFill>
                  <a:schemeClr val="accent6"/>
                </a:solidFill>
              </a:rPr>
              <a:t>5. Si oui, lorsque vous marchez à la Patte d’Oie, vous êtes la plupart du temps : (seul/accompagné)</a:t>
            </a:r>
          </a:p>
          <a:p>
            <a:r>
              <a:rPr lang="fr-FR" sz="1200" dirty="0">
                <a:solidFill>
                  <a:schemeClr val="accent4">
                    <a:lumMod val="75000"/>
                  </a:schemeClr>
                </a:solidFill>
              </a:rPr>
              <a:t>6. Quel est votre ressenti lorsque vous marchez à la Patte d’Oie ? (choix multiples : très agréable, agréable, neutre, désagréable, etc.)</a:t>
            </a:r>
          </a:p>
          <a:p>
            <a:r>
              <a:rPr lang="fr-FR" sz="1200" dirty="0">
                <a:solidFill>
                  <a:schemeClr val="accent6"/>
                </a:solidFill>
              </a:rPr>
              <a:t>7. Avez-vous déjà rencontré des obstacles sur les trottoirs (voitures ou camions garés, poubelles, chantiers, etc.) ? (non – oui, quelques fois – oui, régulièrement)</a:t>
            </a:r>
          </a:p>
          <a:p>
            <a:r>
              <a:rPr lang="fr-FR" sz="1200" dirty="0">
                <a:solidFill>
                  <a:schemeClr val="accent6"/>
                </a:solidFill>
              </a:rPr>
              <a:t>8. Avez-vous déjà traversé au feu rouge d’un passage piéton sur la Patte d’Oie ?</a:t>
            </a:r>
          </a:p>
          <a:p>
            <a:r>
              <a:rPr lang="fr-FR" sz="1200" dirty="0">
                <a:solidFill>
                  <a:schemeClr val="accent6"/>
                </a:solidFill>
              </a:rPr>
              <a:t>9. Avez-vous déjà traversé la route hors des passages piétons ?</a:t>
            </a:r>
          </a:p>
          <a:p>
            <a:r>
              <a:rPr lang="fr-FR" sz="1200" dirty="0">
                <a:solidFill>
                  <a:schemeClr val="accent6"/>
                </a:solidFill>
              </a:rPr>
              <a:t>10. La circulation de voitures ou autres véhicules rend-elle vos déplacements à pied difficiles ?</a:t>
            </a:r>
          </a:p>
          <a:p>
            <a:r>
              <a:rPr lang="fr-FR" sz="1200" dirty="0">
                <a:solidFill>
                  <a:srgbClr val="C00000"/>
                </a:solidFill>
              </a:rPr>
              <a:t>11. Pensez-vous que le nombre de passages piétons à la Patte d’Oie est adapté pour circuler facilement à pied ?</a:t>
            </a:r>
          </a:p>
          <a:p>
            <a:r>
              <a:rPr lang="fr-FR" sz="1200" dirty="0">
                <a:solidFill>
                  <a:srgbClr val="C00000"/>
                </a:solidFill>
              </a:rPr>
              <a:t>12. Selon vous, la largeur des trottoirs à la Patte d’Oie est-elle adaptée pour circuler facilement à pied ?</a:t>
            </a:r>
          </a:p>
          <a:p>
            <a:r>
              <a:rPr lang="fr-FR" sz="1200" dirty="0">
                <a:solidFill>
                  <a:schemeClr val="accent4">
                    <a:lumMod val="75000"/>
                  </a:schemeClr>
                </a:solidFill>
              </a:rPr>
              <a:t>13. En quelques mots, quel élément du paysage vous marque le plus lorsque vous marchez sur ces boulevards ? Est-ce pour vous un élément positif ou négatif ?</a:t>
            </a:r>
          </a:p>
          <a:p>
            <a:r>
              <a:rPr lang="fr-FR" sz="1200" dirty="0">
                <a:solidFill>
                  <a:schemeClr val="accent4">
                    <a:lumMod val="75000"/>
                  </a:schemeClr>
                </a:solidFill>
              </a:rPr>
              <a:t>14. Selon vous, quels éléments du paysage contribuent le plus à créer une ambiance agréable à la Patte d’Oie ? Classez-les de celui qui y contribue le plus (en haut) à celui qui y contribue le moins (en bas).</a:t>
            </a:r>
          </a:p>
          <a:p>
            <a:r>
              <a:rPr lang="fr-FR" sz="1200" dirty="0">
                <a:solidFill>
                  <a:srgbClr val="7030A0"/>
                </a:solidFill>
              </a:rPr>
              <a:t>15. Vous êtes : (un homme / une femme)</a:t>
            </a:r>
          </a:p>
          <a:p>
            <a:r>
              <a:rPr lang="fr-FR" sz="1200" dirty="0">
                <a:solidFill>
                  <a:srgbClr val="7030A0"/>
                </a:solidFill>
              </a:rPr>
              <a:t>16. Âge </a:t>
            </a:r>
          </a:p>
        </p:txBody>
      </p:sp>
      <p:sp>
        <p:nvSpPr>
          <p:cNvPr id="12" name="Accolade ouvrante 11">
            <a:extLst>
              <a:ext uri="{FF2B5EF4-FFF2-40B4-BE49-F238E27FC236}">
                <a16:creationId xmlns:a16="http://schemas.microsoft.com/office/drawing/2014/main" id="{35567277-829F-11B6-47F5-88F6329DD493}"/>
              </a:ext>
            </a:extLst>
          </p:cNvPr>
          <p:cNvSpPr/>
          <p:nvPr/>
        </p:nvSpPr>
        <p:spPr>
          <a:xfrm>
            <a:off x="5419041" y="1463261"/>
            <a:ext cx="231043" cy="1175658"/>
          </a:xfrm>
          <a:prstGeom prst="leftBrace">
            <a:avLst>
              <a:gd name="adj1" fmla="val 68641"/>
              <a:gd name="adj2" fmla="val 50741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D127E16-0DBA-708A-BE90-9C50D313B2FA}"/>
              </a:ext>
            </a:extLst>
          </p:cNvPr>
          <p:cNvSpPr txBox="1"/>
          <p:nvPr/>
        </p:nvSpPr>
        <p:spPr>
          <a:xfrm>
            <a:off x="4009669" y="1535645"/>
            <a:ext cx="135943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accent2"/>
                </a:solidFill>
              </a:rPr>
              <a:t>Les pratiques générales de tous les usagers (piétons et automobilistes)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48BDF0F-7AB8-E16A-BAA5-468908C333A4}"/>
              </a:ext>
            </a:extLst>
          </p:cNvPr>
          <p:cNvSpPr txBox="1"/>
          <p:nvPr/>
        </p:nvSpPr>
        <p:spPr>
          <a:xfrm>
            <a:off x="3889406" y="5753628"/>
            <a:ext cx="1479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7030A0"/>
                </a:solidFill>
              </a:rPr>
              <a:t>Variables socio-démographiques</a:t>
            </a:r>
          </a:p>
        </p:txBody>
      </p:sp>
      <p:sp>
        <p:nvSpPr>
          <p:cNvPr id="15" name="Accolade ouvrante 14">
            <a:extLst>
              <a:ext uri="{FF2B5EF4-FFF2-40B4-BE49-F238E27FC236}">
                <a16:creationId xmlns:a16="http://schemas.microsoft.com/office/drawing/2014/main" id="{E9E058F2-601E-BDF2-1572-80001FBC46CA}"/>
              </a:ext>
            </a:extLst>
          </p:cNvPr>
          <p:cNvSpPr/>
          <p:nvPr/>
        </p:nvSpPr>
        <p:spPr>
          <a:xfrm>
            <a:off x="5415002" y="2788824"/>
            <a:ext cx="231043" cy="1325563"/>
          </a:xfrm>
          <a:prstGeom prst="leftBrace">
            <a:avLst>
              <a:gd name="adj1" fmla="val 68641"/>
              <a:gd name="adj2" fmla="val 50741"/>
            </a:avLst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2ACD4C18-E06E-319D-B372-76A20183CCF7}"/>
              </a:ext>
            </a:extLst>
          </p:cNvPr>
          <p:cNvSpPr txBox="1"/>
          <p:nvPr/>
        </p:nvSpPr>
        <p:spPr>
          <a:xfrm>
            <a:off x="3983196" y="3167390"/>
            <a:ext cx="14537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accent6"/>
                </a:solidFill>
              </a:rPr>
              <a:t>Les pratiques des usagers piétons</a:t>
            </a:r>
          </a:p>
        </p:txBody>
      </p:sp>
      <p:sp>
        <p:nvSpPr>
          <p:cNvPr id="17" name="Accolade ouvrante 16">
            <a:extLst>
              <a:ext uri="{FF2B5EF4-FFF2-40B4-BE49-F238E27FC236}">
                <a16:creationId xmlns:a16="http://schemas.microsoft.com/office/drawing/2014/main" id="{21284E86-3F5F-C6EA-ED77-CAB347B52BC1}"/>
              </a:ext>
            </a:extLst>
          </p:cNvPr>
          <p:cNvSpPr/>
          <p:nvPr/>
        </p:nvSpPr>
        <p:spPr>
          <a:xfrm>
            <a:off x="5469353" y="4197725"/>
            <a:ext cx="167193" cy="620755"/>
          </a:xfrm>
          <a:prstGeom prst="leftBrace">
            <a:avLst>
              <a:gd name="adj1" fmla="val 32250"/>
              <a:gd name="adj2" fmla="val 50741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6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F0FD30E-950C-8B46-E647-08262A487085}"/>
              </a:ext>
            </a:extLst>
          </p:cNvPr>
          <p:cNvSpPr txBox="1"/>
          <p:nvPr/>
        </p:nvSpPr>
        <p:spPr>
          <a:xfrm>
            <a:off x="3983196" y="4197725"/>
            <a:ext cx="1479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C00000"/>
                </a:solidFill>
              </a:rPr>
              <a:t>Les opinions des usagers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2A668FD-88B8-1A7E-9BB9-1A8CDB110F99}"/>
              </a:ext>
            </a:extLst>
          </p:cNvPr>
          <p:cNvSpPr txBox="1"/>
          <p:nvPr/>
        </p:nvSpPr>
        <p:spPr>
          <a:xfrm>
            <a:off x="3957295" y="5049535"/>
            <a:ext cx="1479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accent4">
                    <a:lumMod val="75000"/>
                  </a:schemeClr>
                </a:solidFill>
              </a:rPr>
              <a:t>Les ressentis des usagers piétons</a:t>
            </a:r>
          </a:p>
        </p:txBody>
      </p:sp>
      <p:sp>
        <p:nvSpPr>
          <p:cNvPr id="20" name="Accolade ouvrante 19">
            <a:extLst>
              <a:ext uri="{FF2B5EF4-FFF2-40B4-BE49-F238E27FC236}">
                <a16:creationId xmlns:a16="http://schemas.microsoft.com/office/drawing/2014/main" id="{AD55375A-C0FA-839D-C660-DD548F6B8317}"/>
              </a:ext>
            </a:extLst>
          </p:cNvPr>
          <p:cNvSpPr/>
          <p:nvPr/>
        </p:nvSpPr>
        <p:spPr>
          <a:xfrm>
            <a:off x="5476930" y="4945167"/>
            <a:ext cx="167193" cy="808461"/>
          </a:xfrm>
          <a:prstGeom prst="leftBrace">
            <a:avLst>
              <a:gd name="adj1" fmla="val 32513"/>
              <a:gd name="adj2" fmla="val 50741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9A1742C-39E5-B19E-574B-D81DF9D91980}"/>
              </a:ext>
            </a:extLst>
          </p:cNvPr>
          <p:cNvCxnSpPr/>
          <p:nvPr/>
        </p:nvCxnSpPr>
        <p:spPr>
          <a:xfrm flipH="1">
            <a:off x="5415002" y="6015238"/>
            <a:ext cx="229121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3A9D776A-C660-4A76-AEBE-37976A31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28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/>
      <p:bldP spid="15" grpId="0" animBg="1"/>
      <p:bldP spid="16" grpId="0"/>
      <p:bldP spid="17" grpId="0" animBg="1"/>
      <p:bldP spid="18" grpId="0"/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FB66BBA4-DCA9-7793-62AB-2F4363F31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AC584D3-5A81-57BF-C675-6C8F705A2EBD}"/>
              </a:ext>
            </a:extLst>
          </p:cNvPr>
          <p:cNvSpPr txBox="1"/>
          <p:nvPr/>
        </p:nvSpPr>
        <p:spPr>
          <a:xfrm>
            <a:off x="2179331" y="1232141"/>
            <a:ext cx="585422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6 parcours commentés réalisés entre novembre et décembre 2024</a:t>
            </a:r>
            <a:endParaRPr lang="fr-FR" sz="1600" dirty="0"/>
          </a:p>
          <a:p>
            <a:endParaRPr lang="fr-FR" sz="1600" dirty="0"/>
          </a:p>
          <a:p>
            <a:r>
              <a:rPr lang="fr-FR" sz="1400" dirty="0"/>
              <a:t>&gt; Seule consigne : « marchez où vous souhaitez dans la limite du plan et commentez votre expérience de piéton, pendant 20 minutes »</a:t>
            </a:r>
          </a:p>
          <a:p>
            <a:endParaRPr lang="fr-FR" sz="1400" dirty="0"/>
          </a:p>
          <a:p>
            <a:r>
              <a:rPr lang="fr-FR" sz="1400" dirty="0"/>
              <a:t>&gt; Expérience préalable du terrain 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5 participants connaissaient déjà la Patte d’Oie (usagers fréquents)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1 participant ne connaissait pas (avis extérieur)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A7EA038-3A9D-8D83-A133-D93306D56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331" y="3428999"/>
            <a:ext cx="5834025" cy="2704736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1DF0FC22-E3A9-4A90-0B58-5C79F9F2026F}"/>
              </a:ext>
            </a:extLst>
          </p:cNvPr>
          <p:cNvSpPr txBox="1">
            <a:spLocks/>
          </p:cNvSpPr>
          <p:nvPr/>
        </p:nvSpPr>
        <p:spPr>
          <a:xfrm>
            <a:off x="302726" y="249484"/>
            <a:ext cx="10515600" cy="706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Méthodes : les parcours commentés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63BE001-11C4-E79A-E262-ED904A3C515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394" y="1032204"/>
            <a:ext cx="3603764" cy="510153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Bulle narrative : rectangle à coins arrondis 2">
            <a:extLst>
              <a:ext uri="{FF2B5EF4-FFF2-40B4-BE49-F238E27FC236}">
                <a16:creationId xmlns:a16="http://schemas.microsoft.com/office/drawing/2014/main" id="{A3EDB9D0-D203-2CB9-324D-4E89B19E0BA6}"/>
              </a:ext>
            </a:extLst>
          </p:cNvPr>
          <p:cNvSpPr/>
          <p:nvPr/>
        </p:nvSpPr>
        <p:spPr>
          <a:xfrm>
            <a:off x="191590" y="1232141"/>
            <a:ext cx="1799898" cy="4901594"/>
          </a:xfrm>
          <a:prstGeom prst="wedgeRoundRectCallout">
            <a:avLst>
              <a:gd name="adj1" fmla="val -40490"/>
              <a:gd name="adj2" fmla="val 57229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u="sng" dirty="0">
                <a:solidFill>
                  <a:sysClr val="windowText" lastClr="000000"/>
                </a:solidFill>
              </a:rPr>
              <a:t>Définition</a:t>
            </a:r>
            <a:r>
              <a:rPr lang="fr-FR" sz="1400" dirty="0">
                <a:solidFill>
                  <a:sysClr val="windowText" lastClr="000000"/>
                </a:solidFill>
              </a:rPr>
              <a:t> : </a:t>
            </a:r>
          </a:p>
          <a:p>
            <a:r>
              <a:rPr lang="fr-FR" sz="1400" dirty="0">
                <a:solidFill>
                  <a:sysClr val="windowText" lastClr="000000"/>
                </a:solidFill>
              </a:rPr>
              <a:t>La méthode des parcours commentés consiste à accompagner un participant dans un espace (urbain, architectural…), à lui demander de se déplacer tout en commentant en temps réel ce qu’il/elle perçoit, pense ou ressent sur le lieu. </a:t>
            </a:r>
          </a:p>
          <a:p>
            <a:endParaRPr lang="fr-FR" sz="1400" dirty="0">
              <a:solidFill>
                <a:sysClr val="windowText" lastClr="000000"/>
              </a:solidFill>
            </a:endParaRPr>
          </a:p>
          <a:p>
            <a:r>
              <a:rPr lang="fr-FR" sz="1400" dirty="0">
                <a:solidFill>
                  <a:sysClr val="windowText" lastClr="000000"/>
                </a:solidFill>
              </a:rPr>
              <a:t>Voir plus </a:t>
            </a:r>
            <a:r>
              <a:rPr lang="fr-FR" sz="1400" dirty="0">
                <a:solidFill>
                  <a:sysClr val="windowText" lastClr="000000"/>
                </a:solidFill>
                <a:hlinkClick r:id="rId6"/>
              </a:rPr>
              <a:t>ici</a:t>
            </a:r>
            <a:r>
              <a:rPr lang="fr-FR" sz="1400" dirty="0">
                <a:solidFill>
                  <a:sysClr val="windowText" lastClr="000000"/>
                </a:solidFill>
              </a:rPr>
              <a:t>.</a:t>
            </a:r>
          </a:p>
          <a:p>
            <a:endParaRPr lang="fr-FR" sz="1400" dirty="0">
              <a:solidFill>
                <a:sysClr val="windowText" lastClr="00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B05028F-5C1B-429F-9299-B05F90F9EA45}"/>
              </a:ext>
            </a:extLst>
          </p:cNvPr>
          <p:cNvSpPr txBox="1"/>
          <p:nvPr/>
        </p:nvSpPr>
        <p:spPr>
          <a:xfrm>
            <a:off x="2179331" y="6199240"/>
            <a:ext cx="37810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Tableau récapitulatif des profils des participants aux parcours commentés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64F63BA-E657-4238-B248-2D0E30BB4C47}"/>
              </a:ext>
            </a:extLst>
          </p:cNvPr>
          <p:cNvSpPr txBox="1"/>
          <p:nvPr/>
        </p:nvSpPr>
        <p:spPr>
          <a:xfrm>
            <a:off x="8201199" y="6136361"/>
            <a:ext cx="37810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Plan donné aux participants</a:t>
            </a:r>
          </a:p>
        </p:txBody>
      </p:sp>
      <p:pic>
        <p:nvPicPr>
          <p:cNvPr id="12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BC1C7002-83D6-45D4-B913-ED802FCB1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37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48406-7EB5-85FB-B18F-39D4B5E19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B7749A-5C2A-6258-AEB8-FFE96E8C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937" y="192762"/>
            <a:ext cx="10515600" cy="663077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Résultats du questionnaire</a:t>
            </a:r>
            <a:endParaRPr lang="fr-FR" dirty="0"/>
          </a:p>
        </p:txBody>
      </p:sp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6FF9C32B-954A-9D86-1D5B-DE3BC359C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B6CF45A-5FAC-13F4-9EDE-DCA5AC96D6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223" y="1227490"/>
            <a:ext cx="4490342" cy="261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C51D54B-36DF-BFEB-F82B-EB8D51A4EB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611" y="4239440"/>
            <a:ext cx="2092325" cy="21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5E6DE38-1EC2-17BA-C357-4A9D682C48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001" y="4239440"/>
            <a:ext cx="2368550" cy="224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F74CAEA-08EA-5E01-0A79-9BBAFE18B8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28" y="2463399"/>
            <a:ext cx="5574518" cy="332386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143E73B-047F-78B2-B0BA-8F8151805380}"/>
              </a:ext>
            </a:extLst>
          </p:cNvPr>
          <p:cNvSpPr txBox="1"/>
          <p:nvPr/>
        </p:nvSpPr>
        <p:spPr>
          <a:xfrm>
            <a:off x="1074435" y="1227489"/>
            <a:ext cx="2471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1. Les répondants</a:t>
            </a:r>
          </a:p>
        </p:txBody>
      </p:sp>
      <p:pic>
        <p:nvPicPr>
          <p:cNvPr id="11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8F07174C-EF70-41F4-A3C9-EEF7F1854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89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6D8E0CBB-B541-5D50-4C2B-4324FCBBE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7DE2383-D265-5BB3-964B-BA8103B7E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44" y="1759250"/>
            <a:ext cx="2328366" cy="3257202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609F6726-0013-8EE4-53AA-B5DDA4BBC9C2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du questionnaire</a:t>
            </a:r>
            <a:endParaRPr lang="fr-FR" sz="4000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95C3535-86F1-9CBE-B5CF-43DB2022BC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857" y="1759207"/>
            <a:ext cx="5520680" cy="325720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F222A20-7B15-7B03-3B72-E80B978DB01F}"/>
              </a:ext>
            </a:extLst>
          </p:cNvPr>
          <p:cNvSpPr txBox="1"/>
          <p:nvPr/>
        </p:nvSpPr>
        <p:spPr>
          <a:xfrm>
            <a:off x="2193688" y="5249947"/>
            <a:ext cx="9347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FF0000"/>
                </a:solidFill>
              </a:rPr>
              <a:t>Raisons pratiques </a:t>
            </a:r>
            <a:r>
              <a:rPr lang="fr-FR" sz="1200" dirty="0"/>
              <a:t>: "Éloignement de mon domicile" - "Porter les achats n’est pas évident dans plusieurs magasins"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accent5"/>
                </a:solidFill>
              </a:rPr>
              <a:t>Raisons d'offre de transport </a:t>
            </a:r>
            <a:r>
              <a:rPr lang="fr-FR" sz="1200" dirty="0"/>
              <a:t>: "Pas assez de bus pour s'y rendre" 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rgbClr val="7030A0"/>
                </a:solidFill>
              </a:rPr>
              <a:t>Raisons de continuité urbaine </a:t>
            </a:r>
            <a:r>
              <a:rPr lang="fr-FR" sz="1200" dirty="0"/>
              <a:t>: "Grillage entre les enseignes et compliqué de se balader sereinement avec des enfants compte-tenu de cela et du trafic routier" - "Il y a des parkings sur tous les commerces"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b="1" dirty="0">
                <a:solidFill>
                  <a:schemeClr val="accent6"/>
                </a:solidFill>
              </a:rPr>
              <a:t>Raisons esthétiques </a:t>
            </a:r>
            <a:r>
              <a:rPr lang="fr-FR" sz="1200" dirty="0"/>
              <a:t>: "Zone commerciale d'entrée de ville désagréable visuellement" - "Avenue pas très belle, beaucoup de camions stationnés, pas du tout à l'ère du temps. Dommage"   - "Manque de verdure"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3702B20-C589-7DEA-658C-AE3493556119}"/>
              </a:ext>
            </a:extLst>
          </p:cNvPr>
          <p:cNvSpPr txBox="1"/>
          <p:nvPr/>
        </p:nvSpPr>
        <p:spPr>
          <a:xfrm>
            <a:off x="534340" y="5557723"/>
            <a:ext cx="1515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Autre :</a:t>
            </a:r>
          </a:p>
          <a:p>
            <a:r>
              <a:rPr lang="fr-FR" sz="1400" dirty="0"/>
              <a:t>(réponses libres)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16AC1A7-3B8B-71D5-5A8B-7AABDC932A2D}"/>
              </a:ext>
            </a:extLst>
          </p:cNvPr>
          <p:cNvCxnSpPr>
            <a:cxnSpLocks/>
          </p:cNvCxnSpPr>
          <p:nvPr/>
        </p:nvCxnSpPr>
        <p:spPr>
          <a:xfrm flipH="1">
            <a:off x="5469468" y="4508965"/>
            <a:ext cx="887789" cy="7053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3B90C431-1E2D-1564-1868-400565580C4D}"/>
              </a:ext>
            </a:extLst>
          </p:cNvPr>
          <p:cNvSpPr txBox="1"/>
          <p:nvPr/>
        </p:nvSpPr>
        <p:spPr>
          <a:xfrm>
            <a:off x="1074435" y="1227489"/>
            <a:ext cx="405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2. Piétons et/ou automobilistes ?</a:t>
            </a:r>
          </a:p>
        </p:txBody>
      </p:sp>
      <p:pic>
        <p:nvPicPr>
          <p:cNvPr id="11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4D6FDF4C-3C45-4ECF-B7A3-A1D83CD12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31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9DFCA29C-E125-015C-0ED3-A44A3EB67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EB7CAD1-DA56-CD98-051E-A015EEA523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328" y="928899"/>
            <a:ext cx="3413951" cy="25692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731E8A1-AD08-FA7C-195F-43DB313A0F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740" y="4737118"/>
            <a:ext cx="3131125" cy="1866747"/>
          </a:xfrm>
          <a:prstGeom prst="rect">
            <a:avLst/>
          </a:prstGeom>
          <a:noFill/>
          <a:ln>
            <a:solidFill>
              <a:schemeClr val="bg2"/>
            </a:solidFill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5D31F40-FDC7-5A4F-7A5D-9FC987847946}"/>
              </a:ext>
            </a:extLst>
          </p:cNvPr>
          <p:cNvSpPr txBox="1"/>
          <p:nvPr/>
        </p:nvSpPr>
        <p:spPr>
          <a:xfrm>
            <a:off x="978641" y="972868"/>
            <a:ext cx="464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2. Les piétons de la Patte d’Oie : qui ?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8717B4EC-DAA6-A930-51E8-804B4E8A5F7B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du questionnaire</a:t>
            </a:r>
            <a:endParaRPr lang="fr-FR" sz="40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07A6B48-83BF-271C-78F4-9122DA0ADE65}"/>
              </a:ext>
            </a:extLst>
          </p:cNvPr>
          <p:cNvSpPr txBox="1"/>
          <p:nvPr/>
        </p:nvSpPr>
        <p:spPr>
          <a:xfrm>
            <a:off x="612202" y="1459229"/>
            <a:ext cx="511355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Sans surprise, les </a:t>
            </a:r>
            <a:r>
              <a:rPr lang="fr-FR" sz="1400" b="1" dirty="0"/>
              <a:t>riverains et travailleurs </a:t>
            </a:r>
            <a:r>
              <a:rPr lang="fr-FR" sz="1400" dirty="0"/>
              <a:t>se déplacent davantage à pied que les </a:t>
            </a:r>
            <a:r>
              <a:rPr lang="fr-FR" sz="1400" b="1" dirty="0"/>
              <a:t>consommateurs exclusifs</a:t>
            </a:r>
            <a:r>
              <a:rPr lang="fr-FR" sz="1400" dirty="0"/>
              <a:t>.</a:t>
            </a:r>
          </a:p>
          <a:p>
            <a:pPr lvl="1"/>
            <a:r>
              <a:rPr lang="fr-FR" sz="1400" dirty="0"/>
              <a:t>→ Résultat confirmé par un test de Fisher significatif </a:t>
            </a:r>
          </a:p>
          <a:p>
            <a:pPr lvl="1"/>
            <a:r>
              <a:rPr lang="fr-FR" sz="1400" dirty="0"/>
              <a:t>(p = 0,0107).</a:t>
            </a:r>
          </a:p>
          <a:p>
            <a:pPr lvl="1"/>
            <a:r>
              <a:rPr lang="fr-FR" sz="1400" dirty="0"/>
              <a:t>→ Cela s’explique probablement par des </a:t>
            </a:r>
            <a:r>
              <a:rPr lang="fr-FR" sz="1400" b="1" dirty="0"/>
              <a:t>déplacements contraints </a:t>
            </a:r>
            <a:r>
              <a:rPr lang="fr-FR" sz="1400" dirty="0"/>
              <a:t>(domicile - travail) et, inversement, par la nécessité pour les consommateurs de </a:t>
            </a:r>
            <a:r>
              <a:rPr lang="fr-FR" sz="1400" b="1" dirty="0"/>
              <a:t>transporter leurs achats.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ACB1BF3-B3A9-0339-64AA-078F3C316249}"/>
              </a:ext>
            </a:extLst>
          </p:cNvPr>
          <p:cNvSpPr txBox="1"/>
          <p:nvPr/>
        </p:nvSpPr>
        <p:spPr>
          <a:xfrm>
            <a:off x="5275494" y="3679847"/>
            <a:ext cx="654149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Les </a:t>
            </a:r>
            <a:r>
              <a:rPr lang="fr-FR" sz="1400" b="1" dirty="0"/>
              <a:t>10 - 30 ans</a:t>
            </a:r>
            <a:r>
              <a:rPr lang="fr-FR" sz="1400" dirty="0"/>
              <a:t> marchent légèrement plus que les autres classes d’âge.</a:t>
            </a:r>
          </a:p>
          <a:p>
            <a:pPr lvl="1"/>
            <a:r>
              <a:rPr lang="fr-FR" sz="1400" dirty="0"/>
              <a:t>→ Ils disposent moins souvent d’un véhicule ou du permis, et ont une meilleure condition physique.</a:t>
            </a:r>
          </a:p>
          <a:p>
            <a:pPr lvl="1"/>
            <a:r>
              <a:rPr lang="fr-FR" sz="1400" dirty="0"/>
              <a:t>→ Toutefois, le test du chi² n’est pas significatif, donc cette tendance reste à confirmer.</a:t>
            </a:r>
          </a:p>
        </p:txBody>
      </p:sp>
      <p:pic>
        <p:nvPicPr>
          <p:cNvPr id="10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68B6417D-4664-4FF3-A889-F5FFB213B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2AEBE29-473A-482B-A2A1-4D88D1D8F1E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67"/>
          <a:stretch/>
        </p:blipFill>
        <p:spPr>
          <a:xfrm>
            <a:off x="161935" y="3498131"/>
            <a:ext cx="4852620" cy="213237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DCC0340-3A31-424C-A143-EF1BC8DDBA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251" t="36992" b="39115"/>
          <a:stretch/>
        </p:blipFill>
        <p:spPr>
          <a:xfrm>
            <a:off x="161934" y="5761529"/>
            <a:ext cx="1755643" cy="84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19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A4C20EB-E3E1-E9A8-A802-524B797F7489}"/>
              </a:ext>
            </a:extLst>
          </p:cNvPr>
          <p:cNvSpPr txBox="1"/>
          <p:nvPr/>
        </p:nvSpPr>
        <p:spPr>
          <a:xfrm>
            <a:off x="1074434" y="1227489"/>
            <a:ext cx="620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3. Les piétons de la Patte d’Oie : quelles pratiques ?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2C75E7E-2E2F-C999-0EB5-275E3191E312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du questionnaire</a:t>
            </a:r>
            <a:endParaRPr lang="fr-FR" sz="4000" dirty="0"/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07452511-6C35-49D2-982F-6277CA9C6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1E8F28B-0662-3DE7-FD34-A9222314D97A}"/>
              </a:ext>
            </a:extLst>
          </p:cNvPr>
          <p:cNvSpPr txBox="1"/>
          <p:nvPr/>
        </p:nvSpPr>
        <p:spPr>
          <a:xfrm>
            <a:off x="421378" y="1712716"/>
            <a:ext cx="658666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65 %</a:t>
            </a:r>
            <a:r>
              <a:rPr lang="fr-FR" sz="1600" dirty="0"/>
              <a:t> des répondants piétons déclarent avoir déjà traversé </a:t>
            </a:r>
            <a:r>
              <a:rPr lang="fr-FR" sz="1600" b="1" dirty="0"/>
              <a:t>au feu rouge</a:t>
            </a:r>
            <a:r>
              <a:rPr lang="fr-FR" sz="1600" dirty="0"/>
              <a:t>.</a:t>
            </a:r>
          </a:p>
          <a:p>
            <a:r>
              <a:rPr lang="fr-FR" sz="1600" b="1" dirty="0"/>
              <a:t>69 %</a:t>
            </a:r>
            <a:r>
              <a:rPr lang="fr-FR" sz="1600" dirty="0"/>
              <a:t> des répondants piétons déclarent avoir déjà traversé </a:t>
            </a:r>
            <a:r>
              <a:rPr lang="fr-FR" sz="1600" b="1" dirty="0"/>
              <a:t>hors des passages piétons</a:t>
            </a:r>
            <a:r>
              <a:rPr lang="fr-FR" sz="1600" dirty="0"/>
              <a:t>.</a:t>
            </a:r>
          </a:p>
          <a:p>
            <a:r>
              <a:rPr lang="fr-FR" sz="1600" b="1" dirty="0"/>
              <a:t>85 %</a:t>
            </a:r>
            <a:r>
              <a:rPr lang="fr-FR" sz="1600" dirty="0"/>
              <a:t> affirment avoir </a:t>
            </a:r>
            <a:r>
              <a:rPr lang="fr-FR" sz="1600" b="1" dirty="0"/>
              <a:t>des difficultés à circuler</a:t>
            </a:r>
            <a:r>
              <a:rPr lang="fr-FR" sz="1600" dirty="0"/>
              <a:t> à cause de la circulation automobile.</a:t>
            </a:r>
          </a:p>
          <a:p>
            <a:r>
              <a:rPr lang="fr-FR" sz="1600" b="1" dirty="0"/>
              <a:t>81 %</a:t>
            </a:r>
            <a:r>
              <a:rPr lang="fr-FR" sz="1600" dirty="0"/>
              <a:t> déclarent avoir rencontré </a:t>
            </a:r>
            <a:r>
              <a:rPr lang="fr-FR" sz="1600" b="1" dirty="0"/>
              <a:t>plusieurs fois</a:t>
            </a:r>
            <a:r>
              <a:rPr lang="fr-FR" sz="1600" dirty="0"/>
              <a:t> des</a:t>
            </a:r>
            <a:r>
              <a:rPr lang="fr-FR" sz="1600" b="1" dirty="0"/>
              <a:t> obstacles</a:t>
            </a:r>
            <a:r>
              <a:rPr lang="fr-FR" sz="1600" dirty="0"/>
              <a:t> sur les trottoirs (voitures ou camions garés, poubelles, chantiers, etc.). </a:t>
            </a:r>
          </a:p>
          <a:p>
            <a:endParaRPr lang="fr-FR" sz="1600" b="1" dirty="0"/>
          </a:p>
          <a:p>
            <a:r>
              <a:rPr lang="fr-FR" sz="1600" b="1" dirty="0"/>
              <a:t>Aucune différence de pratique piétonne </a:t>
            </a:r>
            <a:r>
              <a:rPr lang="fr-FR" sz="1600" dirty="0"/>
              <a:t>n’a été observée, que ce soit :</a:t>
            </a:r>
          </a:p>
          <a:p>
            <a:pPr lvl="1"/>
            <a:r>
              <a:rPr lang="fr-FR" sz="1600" dirty="0"/>
              <a:t>entre hommes et femmes,</a:t>
            </a:r>
          </a:p>
          <a:p>
            <a:pPr lvl="1"/>
            <a:r>
              <a:rPr lang="fr-FR" sz="1600" dirty="0"/>
              <a:t>entre jeunes et moins jeunes,</a:t>
            </a:r>
          </a:p>
          <a:p>
            <a:pPr lvl="1"/>
            <a:r>
              <a:rPr lang="fr-FR" sz="1600" dirty="0"/>
              <a:t>entre personnes seules ou accompagnées,</a:t>
            </a:r>
          </a:p>
          <a:p>
            <a:pPr lvl="1"/>
            <a:r>
              <a:rPr lang="fr-FR" sz="1600" dirty="0"/>
              <a:t>entre consommateurs exclusifs, riverains ou travailleurs,</a:t>
            </a:r>
          </a:p>
          <a:p>
            <a:pPr lvl="1"/>
            <a:r>
              <a:rPr lang="fr-FR" sz="1600" dirty="0"/>
              <a:t>entre visiteurs fréquents ou occasionnels (moins d’une fois par mois).</a:t>
            </a:r>
          </a:p>
          <a:p>
            <a:r>
              <a:rPr lang="fr-FR" sz="1600" dirty="0"/>
              <a:t>Il semble que </a:t>
            </a:r>
            <a:r>
              <a:rPr lang="fr-FR" sz="1600" b="1" dirty="0"/>
              <a:t>tous les profils de piétons rapportent des pratiques de déplacement similaires</a:t>
            </a:r>
            <a:r>
              <a:rPr lang="fr-FR" sz="1600" dirty="0"/>
              <a:t>.</a:t>
            </a:r>
          </a:p>
          <a:p>
            <a:endParaRPr lang="fr-FR" sz="1600" dirty="0"/>
          </a:p>
          <a:p>
            <a:r>
              <a:rPr lang="fr-FR" sz="1600" dirty="0"/>
              <a:t>Ces résultats mériteraient toutefois d’être </a:t>
            </a:r>
            <a:r>
              <a:rPr lang="fr-FR" sz="1600" b="1" dirty="0"/>
              <a:t>affinés avec un échantillon plus large et plus représentatif</a:t>
            </a:r>
            <a:r>
              <a:rPr lang="fr-FR" sz="1600" dirty="0"/>
              <a:t>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B1A93AD-1772-5D05-4638-A4306263FE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214" y="768857"/>
            <a:ext cx="3479165" cy="1800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39BF585-5A10-1C67-8983-603323BF72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2281" y="4727418"/>
            <a:ext cx="2722022" cy="1729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4F01E7F-9048-E7AE-59EE-C3ADE4162D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545" y="2721194"/>
            <a:ext cx="2721519" cy="182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476AEB4-DEDF-E346-21DB-700F7ED8F695}"/>
              </a:ext>
            </a:extLst>
          </p:cNvPr>
          <p:cNvSpPr/>
          <p:nvPr/>
        </p:nvSpPr>
        <p:spPr>
          <a:xfrm>
            <a:off x="9091749" y="1403562"/>
            <a:ext cx="705394" cy="6183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41052D-8D99-C6B0-A769-B24EFB9D48BC}"/>
              </a:ext>
            </a:extLst>
          </p:cNvPr>
          <p:cNvSpPr/>
          <p:nvPr/>
        </p:nvSpPr>
        <p:spPr>
          <a:xfrm>
            <a:off x="9543306" y="3429000"/>
            <a:ext cx="705394" cy="7648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DE4400-CCCE-E5C3-5465-E026C0BBA88A}"/>
              </a:ext>
            </a:extLst>
          </p:cNvPr>
          <p:cNvSpPr/>
          <p:nvPr/>
        </p:nvSpPr>
        <p:spPr>
          <a:xfrm>
            <a:off x="9896003" y="5386972"/>
            <a:ext cx="705394" cy="6183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96EADAE-DC8E-6A91-9C90-26A16293A45A}"/>
              </a:ext>
            </a:extLst>
          </p:cNvPr>
          <p:cNvSpPr txBox="1"/>
          <p:nvPr/>
        </p:nvSpPr>
        <p:spPr>
          <a:xfrm>
            <a:off x="7200640" y="5395320"/>
            <a:ext cx="135747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Images Google StreetView dans lesquels il est possible d’observer des piétons traverser sur des terre-pleins sans passages piétons ou marcher sur la route</a:t>
            </a:r>
          </a:p>
        </p:txBody>
      </p:sp>
      <p:pic>
        <p:nvPicPr>
          <p:cNvPr id="17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D4BCBB6E-EA0F-4F10-84EA-B2D846AA7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00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9FE44-014A-9159-D2B6-078D9F49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89E9B1F-2A15-EA1E-BDEB-52E0C81537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11"/>
          <a:stretch/>
        </p:blipFill>
        <p:spPr bwMode="auto">
          <a:xfrm>
            <a:off x="6363305" y="3131947"/>
            <a:ext cx="5017770" cy="18027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6752133-ED9A-1D66-2C7B-8CE7F0C5697A}"/>
              </a:ext>
            </a:extLst>
          </p:cNvPr>
          <p:cNvSpPr txBox="1"/>
          <p:nvPr/>
        </p:nvSpPr>
        <p:spPr>
          <a:xfrm>
            <a:off x="1074435" y="1227489"/>
            <a:ext cx="4143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4. Les piétons de la Patte d’Oie : quels ressentis ?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267FB9D-8743-C76E-D4B8-3E418A0CAF6B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du questionnaire</a:t>
            </a:r>
            <a:endParaRPr lang="fr-FR" sz="4000" dirty="0"/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1766240A-1670-AF1F-196E-87B3D072F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C0F6F1D6-F91F-10BB-FD76-DEAA6934A23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24"/>
          <a:stretch/>
        </p:blipFill>
        <p:spPr bwMode="auto">
          <a:xfrm>
            <a:off x="7141029" y="4899087"/>
            <a:ext cx="3742508" cy="188162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C5799F5-2E3F-8005-2157-AB38E491CC8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89"/>
          <a:stretch/>
        </p:blipFill>
        <p:spPr bwMode="auto">
          <a:xfrm>
            <a:off x="6033813" y="1149939"/>
            <a:ext cx="3503295" cy="18802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D73052B-E935-8262-F491-334E69FFACD0}"/>
              </a:ext>
            </a:extLst>
          </p:cNvPr>
          <p:cNvSpPr txBox="1"/>
          <p:nvPr/>
        </p:nvSpPr>
        <p:spPr>
          <a:xfrm>
            <a:off x="463398" y="2090057"/>
            <a:ext cx="53652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/>
              <a:t>67,7 % des répondants </a:t>
            </a:r>
            <a:r>
              <a:rPr lang="fr-FR" sz="1400" dirty="0"/>
              <a:t>déclarent un ressenti « </a:t>
            </a:r>
            <a:r>
              <a:rPr lang="fr-FR" sz="1400" b="1" dirty="0"/>
              <a:t>très désagréable </a:t>
            </a:r>
            <a:r>
              <a:rPr lang="fr-FR" sz="1400" dirty="0"/>
              <a:t>» ou « </a:t>
            </a:r>
            <a:r>
              <a:rPr lang="fr-FR" sz="1400" b="1" dirty="0"/>
              <a:t>plutôt désagréable </a:t>
            </a:r>
            <a:r>
              <a:rPr lang="fr-FR" sz="1400" dirty="0"/>
              <a:t>» lorsqu’ils marchent à la Patte d’Oie.</a:t>
            </a:r>
          </a:p>
          <a:p>
            <a:pPr lvl="1"/>
            <a:r>
              <a:rPr lang="fr-FR" sz="1400" dirty="0"/>
              <a:t>→ La majorité exprime un </a:t>
            </a:r>
            <a:r>
              <a:rPr lang="fr-FR" sz="1400" b="1" dirty="0"/>
              <a:t>ressenti négatif</a:t>
            </a:r>
            <a:r>
              <a:rPr lang="fr-FR" sz="1400" dirty="0"/>
              <a:t>.</a:t>
            </a:r>
          </a:p>
          <a:p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En comparant les profils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Les hommes ont davantage de ressentis non négatifs (positifs, neutres ou mitigés) que les femmes.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Les plus jeunes (10 - 35 ans) expriment plus souvent un ressenti non négatif, alors que les plus âgés déclarent plus de ressentis très désagréables.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Les personnes accompagnées sont nettement moins susceptibles d’avoir un ressenti négatif.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L’effet de l’accompagnement est confirmé par un test de Fisher significatif (p = 0.0467 &lt; 0.05) :</a:t>
            </a:r>
          </a:p>
          <a:p>
            <a:pPr lvl="1"/>
            <a:r>
              <a:rPr lang="fr-FR" sz="1400" dirty="0"/>
              <a:t>→ Le fait d’être accompagné réduit la probabilité d’un ressenti négatif.</a:t>
            </a:r>
          </a:p>
          <a:p>
            <a:pPr lvl="1"/>
            <a:r>
              <a:rPr lang="fr-FR" sz="1400" dirty="0"/>
              <a:t>→ Résultat cohérent avec les conclusions de </a:t>
            </a:r>
            <a:r>
              <a:rPr lang="fr-FR" sz="1400" dirty="0" err="1"/>
              <a:t>Granié</a:t>
            </a:r>
            <a:r>
              <a:rPr lang="fr-FR" sz="1400" dirty="0"/>
              <a:t> et al. (2018).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21D32A2-04A3-FA5E-3EA3-FC3BA1114DE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75" t="32304" b="30003"/>
          <a:stretch/>
        </p:blipFill>
        <p:spPr bwMode="auto">
          <a:xfrm>
            <a:off x="9742224" y="1369013"/>
            <a:ext cx="2181860" cy="14420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1A62517B-4CE5-4E98-A51F-8DA233927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71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EC11-EA0A-F1DB-2F2B-5846C8C53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50F27A87-D3BA-D80A-DBC9-18F217EF3C95}"/>
              </a:ext>
            </a:extLst>
          </p:cNvPr>
          <p:cNvSpPr txBox="1"/>
          <p:nvPr/>
        </p:nvSpPr>
        <p:spPr>
          <a:xfrm>
            <a:off x="1074435" y="1227489"/>
            <a:ext cx="4143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4. Les piétons de la Patte d’Oie : quels ressentis ?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91FCC9-F342-4BFE-7474-7971EA1A773F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du questionnaire</a:t>
            </a:r>
            <a:endParaRPr lang="fr-FR" sz="4000" dirty="0"/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0D6C6B80-5007-BACD-1EA7-38C079B80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50CD38E-0951-5FD8-6B4D-40A09CFE4B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" t="8001" r="1317" b="5988"/>
          <a:stretch/>
        </p:blipFill>
        <p:spPr bwMode="auto">
          <a:xfrm>
            <a:off x="8013370" y="3148604"/>
            <a:ext cx="3890340" cy="35026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9DD36C9-B955-EE5A-D734-5DFA56A95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364" y="3171967"/>
            <a:ext cx="3493271" cy="3493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Bulle narrative : ronde 11">
            <a:extLst>
              <a:ext uri="{FF2B5EF4-FFF2-40B4-BE49-F238E27FC236}">
                <a16:creationId xmlns:a16="http://schemas.microsoft.com/office/drawing/2014/main" id="{01F64FB5-9CEC-CAB5-3250-5F1708EACC7D}"/>
              </a:ext>
            </a:extLst>
          </p:cNvPr>
          <p:cNvSpPr/>
          <p:nvPr/>
        </p:nvSpPr>
        <p:spPr>
          <a:xfrm>
            <a:off x="4903665" y="992834"/>
            <a:ext cx="3564890" cy="2110105"/>
          </a:xfrm>
          <a:prstGeom prst="wedgeEllipseCallout">
            <a:avLst>
              <a:gd name="adj1" fmla="val -54269"/>
              <a:gd name="adj2" fmla="val 36557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fr-FR" sz="1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endParaRPr lang="fr-FR" sz="10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Absence de trottoirs à l’entrée de la zone côté Pierrelaye, à partir du nouveau Aldi/ </a:t>
            </a:r>
            <a:r>
              <a:rPr lang="fr-FR" sz="1000" kern="1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carglass</a:t>
            </a: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jusqu’au rond-point suivant (la foire fouille)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La priorité est donnée aux voitures, pas aux piétons. À pied ça reste dangereux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Y’a vraiment pas assez de passage piéton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4" name="Bulle narrative : ronde 13">
            <a:extLst>
              <a:ext uri="{FF2B5EF4-FFF2-40B4-BE49-F238E27FC236}">
                <a16:creationId xmlns:a16="http://schemas.microsoft.com/office/drawing/2014/main" id="{DCB99209-9DB7-8287-1A5F-ADE28DC76CDD}"/>
              </a:ext>
            </a:extLst>
          </p:cNvPr>
          <p:cNvSpPr/>
          <p:nvPr/>
        </p:nvSpPr>
        <p:spPr>
          <a:xfrm flipH="1">
            <a:off x="7933205" y="902964"/>
            <a:ext cx="4037443" cy="2269003"/>
          </a:xfrm>
          <a:prstGeom prst="wedgeEllipseCallout">
            <a:avLst>
              <a:gd name="adj1" fmla="val -45083"/>
              <a:gd name="adj2" fmla="val 5879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Les pubs dans tous les sens : négatif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Extrêmement laid !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De la verdure ! Cette zone est aussi un assemblage architectural hétéroclite, sans unité et très moche !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Manque de continuité des trottoirs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1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« Sentiment d’insécurité, trop longues distances à parcourir si on veut flâner à pied. »</a:t>
            </a:r>
            <a:endParaRPr lang="fr-FR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A0969E7-6DA4-1407-F57A-287BF037E198}"/>
              </a:ext>
            </a:extLst>
          </p:cNvPr>
          <p:cNvSpPr txBox="1"/>
          <p:nvPr/>
        </p:nvSpPr>
        <p:spPr>
          <a:xfrm>
            <a:off x="498567" y="2108475"/>
            <a:ext cx="348996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La très grande majorité des répondants piétons exprime une </a:t>
            </a:r>
            <a:r>
              <a:rPr lang="fr-FR" sz="1400" b="1" dirty="0"/>
              <a:t>perception négative du paysage.</a:t>
            </a:r>
          </a:p>
          <a:p>
            <a:endParaRPr lang="fr-FR" sz="1400" dirty="0"/>
          </a:p>
          <a:p>
            <a:r>
              <a:rPr lang="fr-FR" sz="1400" dirty="0"/>
              <a:t>À la question ouverte sur « l’élément du paysage qui marque le plus », la majorité cite un élément négatif.</a:t>
            </a:r>
          </a:p>
          <a:p>
            <a:endParaRPr lang="fr-FR" sz="1400" dirty="0"/>
          </a:p>
          <a:p>
            <a:r>
              <a:rPr lang="fr-FR" sz="1400" dirty="0"/>
              <a:t>Les nuages de mots montrent notamment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les </a:t>
            </a:r>
            <a:r>
              <a:rPr lang="fr-FR" sz="1400" b="1" dirty="0"/>
              <a:t>panneaux publicitaires</a:t>
            </a:r>
            <a:r>
              <a:rPr lang="fr-FR" sz="1400" dirty="0"/>
              <a:t>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la présence importante des </a:t>
            </a:r>
            <a:r>
              <a:rPr lang="fr-FR" sz="1400" b="1" dirty="0"/>
              <a:t>voitures</a:t>
            </a:r>
            <a:r>
              <a:rPr lang="fr-FR" sz="1400" dirty="0"/>
              <a:t> et le </a:t>
            </a:r>
            <a:r>
              <a:rPr lang="fr-FR" sz="1400" b="1" dirty="0"/>
              <a:t>sentiment de danger</a:t>
            </a:r>
            <a:r>
              <a:rPr lang="fr-FR" sz="1400" dirty="0"/>
              <a:t>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l’aspect dégradé ou délabré de la zone,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 manque de passages piétons,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 </a:t>
            </a:r>
            <a:r>
              <a:rPr lang="fr-FR" sz="1400" b="1" dirty="0"/>
              <a:t>manque de verdure</a:t>
            </a:r>
            <a:r>
              <a:rPr lang="fr-FR" sz="1400" dirty="0"/>
              <a:t>,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 </a:t>
            </a:r>
            <a:r>
              <a:rPr lang="fr-FR" sz="1400" b="1" dirty="0"/>
              <a:t>manque</a:t>
            </a:r>
            <a:r>
              <a:rPr lang="fr-FR" sz="1400" dirty="0"/>
              <a:t> de </a:t>
            </a:r>
            <a:r>
              <a:rPr lang="fr-FR" sz="1400" b="1" dirty="0"/>
              <a:t>continuité</a:t>
            </a:r>
            <a:r>
              <a:rPr lang="fr-FR" sz="1400" dirty="0"/>
              <a:t> et </a:t>
            </a:r>
            <a:r>
              <a:rPr lang="fr-FR" sz="1400" b="1" dirty="0"/>
              <a:t>d’unité</a:t>
            </a:r>
            <a:r>
              <a:rPr lang="fr-FR" sz="1400" dirty="0"/>
              <a:t> dans le paysage.</a:t>
            </a:r>
          </a:p>
        </p:txBody>
      </p:sp>
      <p:pic>
        <p:nvPicPr>
          <p:cNvPr id="13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A1E8412C-1E9B-4A90-8E2A-1011BABA9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61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F5BD-4010-5BE4-9955-A5550836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D668242-E4E4-FAEA-000A-A0CA3A078C3D}"/>
              </a:ext>
            </a:extLst>
          </p:cNvPr>
          <p:cNvSpPr txBox="1"/>
          <p:nvPr/>
        </p:nvSpPr>
        <p:spPr>
          <a:xfrm>
            <a:off x="1074435" y="1227489"/>
            <a:ext cx="6632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5. Les usagers de la Patte d’Oie : quelles opinions ?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D001E353-CD13-0853-61DD-725C3B4CDF66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du questionnaire</a:t>
            </a:r>
            <a:endParaRPr lang="fr-FR" sz="4000" dirty="0"/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96F8329B-84CC-A3BA-9DD3-5454C3BF7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7D4A2ADC-C622-0C93-C8C8-3CC92E315E43}"/>
              </a:ext>
            </a:extLst>
          </p:cNvPr>
          <p:cNvSpPr txBox="1"/>
          <p:nvPr/>
        </p:nvSpPr>
        <p:spPr>
          <a:xfrm>
            <a:off x="1961607" y="2352315"/>
            <a:ext cx="78616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91 % des répondants (automobilistes exclusifs + piétons) estiment que le nombre de passages piétons n’est pas adapté pour circuler facilement à pied.</a:t>
            </a:r>
          </a:p>
          <a:p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Les avis sont plus partagés concernant la largeur des trottoirs : 60 % jugent qu’elle est insuffisante.</a:t>
            </a:r>
          </a:p>
          <a:p>
            <a:pPr lvl="1"/>
            <a:r>
              <a:rPr lang="fr-FR" sz="1600" dirty="0"/>
              <a:t>→ Probablement en raison d’une forte hétérogénéité de largeur selon les segments de la Patte d’Oie.</a:t>
            </a:r>
          </a:p>
          <a:p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Aucune différence significative n’a été trouvée entre les réponses des automobilistes exclusifs et celles des piétons.</a:t>
            </a:r>
          </a:p>
          <a:p>
            <a:pPr lvl="1"/>
            <a:r>
              <a:rPr lang="fr-FR" sz="1600" dirty="0"/>
              <a:t>→ Les automobilistes semblent donc avoir des représentations proches de celles des piétons, bien que ces derniers s’appuient sur l’expérience directe du terrain.</a:t>
            </a:r>
          </a:p>
        </p:txBody>
      </p:sp>
      <p:pic>
        <p:nvPicPr>
          <p:cNvPr id="9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7A427A3F-0852-4847-8016-C751D4D7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722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E31F-FC15-63C1-3294-147E8773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DDEBBF87-D6C6-21E3-4736-F8648BDD155E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des parcours commentés</a:t>
            </a:r>
            <a:endParaRPr lang="fr-FR" sz="4000" dirty="0"/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9851D2FB-D2C5-8EA4-0731-8EA7915A4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7EE10030-1CF3-9C7A-B57D-9CDF929462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42" y="4033293"/>
            <a:ext cx="3466465" cy="245137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27B1444-0362-6014-789D-57EF75A97E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341" y="1328020"/>
            <a:ext cx="3427095" cy="242316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369428C-F601-C022-9AE2-E8A3189147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472" y="4033293"/>
            <a:ext cx="3443605" cy="24352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C741988-7FBB-74CB-074D-19984CAB22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268" y="1329607"/>
            <a:ext cx="3422015" cy="241998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6D78BE3-23D5-ABFF-8F00-D349C3B7E1C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657" y="4025355"/>
            <a:ext cx="3466465" cy="24511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D8E04C69-E076-4AA8-AB61-8175BBAEA528}"/>
              </a:ext>
            </a:extLst>
          </p:cNvPr>
          <p:cNvSpPr txBox="1"/>
          <p:nvPr/>
        </p:nvSpPr>
        <p:spPr>
          <a:xfrm>
            <a:off x="525842" y="1800934"/>
            <a:ext cx="34220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Le </a:t>
            </a:r>
            <a:r>
              <a:rPr lang="fr-FR" sz="1400" b="1" dirty="0"/>
              <a:t>tracé des parcours </a:t>
            </a:r>
            <a:r>
              <a:rPr lang="fr-FR" sz="1400" dirty="0"/>
              <a:t>était libre, dans la limite des Boulevard Bordier et Boulevard du Havre.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5 enquêtés sur 6 sont restés du même côté du Boulevard.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fr-FR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4 enquêtés sont restés côté Boulevard Bordier.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21E328D-DB00-4661-A3A9-8D88C9603290}"/>
              </a:ext>
            </a:extLst>
          </p:cNvPr>
          <p:cNvSpPr txBox="1"/>
          <p:nvPr/>
        </p:nvSpPr>
        <p:spPr>
          <a:xfrm>
            <a:off x="525842" y="1005221"/>
            <a:ext cx="3699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6. Les tracés des parcours commentés</a:t>
            </a:r>
          </a:p>
        </p:txBody>
      </p:sp>
      <p:pic>
        <p:nvPicPr>
          <p:cNvPr id="12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2FFB2156-A56B-4EFC-A574-9E6C333BF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887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E31F-FC15-63C1-3294-147E8773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DDEBBF87-D6C6-21E3-4736-F8648BDD155E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des parcours commentés</a:t>
            </a:r>
            <a:endParaRPr lang="fr-FR" sz="4000" dirty="0"/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9851D2FB-D2C5-8EA4-0731-8EA7915A4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7260EEC-4788-13FB-824E-6C1808C1B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276" y="119702"/>
            <a:ext cx="450849" cy="450849"/>
          </a:xfrm>
          <a:prstGeom prst="rect">
            <a:avLst/>
          </a:prstGeom>
        </p:spPr>
      </p:pic>
      <p:pic>
        <p:nvPicPr>
          <p:cNvPr id="3" name="Image 2">
            <a:hlinkClick r:id="rId3"/>
            <a:extLst>
              <a:ext uri="{FF2B5EF4-FFF2-40B4-BE49-F238E27FC236}">
                <a16:creationId xmlns:a16="http://schemas.microsoft.com/office/drawing/2014/main" id="{D3D824C1-9D1A-49A4-A74A-728986CFC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43" y="1328386"/>
            <a:ext cx="10238913" cy="503776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FDB2CEF-5E55-40CD-8206-32B0853ED1D0}"/>
              </a:ext>
            </a:extLst>
          </p:cNvPr>
          <p:cNvSpPr txBox="1"/>
          <p:nvPr/>
        </p:nvSpPr>
        <p:spPr>
          <a:xfrm>
            <a:off x="525842" y="1005221"/>
            <a:ext cx="420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7. Remarques situées des participants</a:t>
            </a:r>
          </a:p>
        </p:txBody>
      </p:sp>
    </p:spTree>
    <p:extLst>
      <p:ext uri="{BB962C8B-B14F-4D97-AF65-F5344CB8AC3E}">
        <p14:creationId xmlns:p14="http://schemas.microsoft.com/office/powerpoint/2010/main" val="1890878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34DB0A4-A774-4D28-9B8A-9CBEB1E3B899}"/>
              </a:ext>
            </a:extLst>
          </p:cNvPr>
          <p:cNvSpPr txBox="1"/>
          <p:nvPr/>
        </p:nvSpPr>
        <p:spPr>
          <a:xfrm>
            <a:off x="843444" y="1741151"/>
            <a:ext cx="6288876" cy="423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Bruit très présent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Mentionné par plusieurs enquêtés lors des parcours.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Confirmé par le questionnaire : remarques fréquentes sur le bruit, la saleté et l’absence de confort (« Du bruit… trottoirs en mauvais état », « Avenues moroses, bruits des voitures »).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Sentiment d’insécurité lié aux voitures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Ressenti exprimé par plusieurs enquêtés.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Confirmé dans le questionnaire : routes perçues comme dangereuses, automobilistes ne cédant pas le passage.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Trottoirs mal adaptés ou encombrés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Observé par plusieurs enquêtés (présence de cyclistes, remorques, camions).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Concordance forte avec le questionnaire : « Moche, encombré et mal entretenu ».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Manque de continuité des cheminements piétons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Mentionné par plusieurs enquêtés, qui relèvent coupures, détours forcés et obstacles.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Corroboré dans le questionnaire : « Manque de continuité des trottoirs », « Pas de continuité de circulation ».</a:t>
            </a:r>
          </a:p>
          <a:p>
            <a:pPr marL="285750" lvl="0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Esthétique globalement jugée négative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Relevée par la majorité des enquêtés : paysage « industriel », omniprésence de publicités, bâtiments très cubiques ou monotones.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Retrouvé indirectement dans le questionnaire, où la zone est décrite comme « moche », « morose » ou « délabrée ».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DB84E9F-E22C-4415-A676-4F25A995917B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des parcours commentés</a:t>
            </a:r>
            <a:endParaRPr lang="fr-FR" sz="4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686066-BB95-45F7-9BBE-05A1731AC874}"/>
              </a:ext>
            </a:extLst>
          </p:cNvPr>
          <p:cNvSpPr txBox="1"/>
          <p:nvPr/>
        </p:nvSpPr>
        <p:spPr>
          <a:xfrm>
            <a:off x="525842" y="1005221"/>
            <a:ext cx="568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8. Remarques générales des participants : éléments perçus négativement</a:t>
            </a:r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AF708E93-B1ED-4EFB-B5E7-16E321692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A839AFE-23AF-4153-BC7B-8AA43913A7A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776" y="2627702"/>
            <a:ext cx="2705100" cy="152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86EF8D5-8E4F-4DA5-86F3-F6677EDA9D40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989" b="18283"/>
          <a:stretch/>
        </p:blipFill>
        <p:spPr bwMode="auto">
          <a:xfrm>
            <a:off x="8337776" y="1005221"/>
            <a:ext cx="2705100" cy="152082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8" name="Picture 4" descr="Capture d ecran 2025 10 29 115311">
            <a:extLst>
              <a:ext uri="{FF2B5EF4-FFF2-40B4-BE49-F238E27FC236}">
                <a16:creationId xmlns:a16="http://schemas.microsoft.com/office/drawing/2014/main" id="{BC4E6FC7-CD9E-4703-92D7-1AEF2B106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31" y="4250182"/>
            <a:ext cx="2710846" cy="211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31FB375-82C1-4D30-A50E-C8638B5CFB21}"/>
              </a:ext>
            </a:extLst>
          </p:cNvPr>
          <p:cNvSpPr txBox="1"/>
          <p:nvPr/>
        </p:nvSpPr>
        <p:spPr>
          <a:xfrm>
            <a:off x="6649374" y="5974746"/>
            <a:ext cx="154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Photographies personnelles – novembre/décembre 2024</a:t>
            </a:r>
          </a:p>
        </p:txBody>
      </p:sp>
      <p:pic>
        <p:nvPicPr>
          <p:cNvPr id="11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0EAAF57F-E25D-45A0-A574-4A560257F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0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1EDFBF8-C6BB-43DC-8F40-C2C040E930B3}"/>
              </a:ext>
            </a:extLst>
          </p:cNvPr>
          <p:cNvSpPr txBox="1"/>
          <p:nvPr/>
        </p:nvSpPr>
        <p:spPr>
          <a:xfrm>
            <a:off x="525841" y="1005221"/>
            <a:ext cx="8530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9. Remarques générales des participants : éléments perçus positivement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C332B02-1BA8-4236-A7EA-9DFE1748C283}"/>
              </a:ext>
            </a:extLst>
          </p:cNvPr>
          <p:cNvSpPr txBox="1">
            <a:spLocks/>
          </p:cNvSpPr>
          <p:nvPr/>
        </p:nvSpPr>
        <p:spPr>
          <a:xfrm>
            <a:off x="367937" y="192762"/>
            <a:ext cx="10515600" cy="663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>
                <a:latin typeface="Cooper Black" panose="0208090404030B020404" pitchFamily="18" charset="0"/>
              </a:rPr>
              <a:t>Résultats des parcours commentés</a:t>
            </a:r>
            <a:endParaRPr lang="fr-FR" sz="40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5125F34-465F-4C94-BA4E-C147B3C09829}"/>
              </a:ext>
            </a:extLst>
          </p:cNvPr>
          <p:cNvSpPr txBox="1"/>
          <p:nvPr/>
        </p:nvSpPr>
        <p:spPr>
          <a:xfrm>
            <a:off x="868607" y="1722998"/>
            <a:ext cx="6812353" cy="423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parc </a:t>
            </a: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source de calme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Apporte une rupture appréciée avec le bruit et l’agitation du boulevard.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Plusieurs enquêtés décrivent cet espace comme reposant et plus agréable sensoriellement.</a:t>
            </a:r>
          </a:p>
          <a:p>
            <a:pPr lvl="1">
              <a:lnSpc>
                <a:spcPct val="107000"/>
              </a:lnSpc>
            </a:pP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verdure </a:t>
            </a: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(parc, jardins, végétation entre magasins)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Perçue comme un élément positif qui adoucit l’ambiance.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présence de végétation, même diffuse, est associée à une meilleure qualité paysagère.</a:t>
            </a:r>
          </a:p>
          <a:p>
            <a:pPr lvl="1">
              <a:lnSpc>
                <a:spcPct val="107000"/>
              </a:lnSpc>
            </a:pP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maisons individuelles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Leur présence contribue à une atmosphère plus calme, moins commerciale et plus résidentielle, soulignée par deux </a:t>
            </a:r>
            <a:r>
              <a:rPr lang="fr-FR" sz="1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enquêtés. La mixité fonctionnelle qu’elles introduisent dans la zone est appréciée.</a:t>
            </a: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Certaines devantures d’enseignes appréciées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 magasin Celio ou encore le McDonald’s sont mentionnés positivement par plusieurs enquêtés.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Leur façade, leur organisation ou la verdure qui les accompagnent sont perçus comme visuellement agréables, rendant certains segments du parcours plus plaisants.</a:t>
            </a:r>
          </a:p>
          <a:p>
            <a:pPr lvl="1">
              <a:lnSpc>
                <a:spcPct val="107000"/>
              </a:lnSpc>
            </a:pP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fr-FR" sz="1200" b="1" kern="100" dirty="0">
                <a:solidFill>
                  <a:schemeClr val="accent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Largeur de certains trottoirs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Citée positivement par trois enquêtés, ils sont confortables pour marcher</a:t>
            </a:r>
          </a:p>
          <a:p>
            <a:pPr marL="628650" lvl="1" indent="-17145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Cela nuance les résultats du questionnaire</a:t>
            </a:r>
          </a:p>
        </p:txBody>
      </p:sp>
      <p:pic>
        <p:nvPicPr>
          <p:cNvPr id="7" name="Picture 2" descr="Photo du lieu">
            <a:extLst>
              <a:ext uri="{FF2B5EF4-FFF2-40B4-BE49-F238E27FC236}">
                <a16:creationId xmlns:a16="http://schemas.microsoft.com/office/drawing/2014/main" id="{C7B85CE3-FABA-48EA-92A3-45086720C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815" y="1523935"/>
            <a:ext cx="1868217" cy="255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apture d ecran 2025 10 29 115403">
            <a:extLst>
              <a:ext uri="{FF2B5EF4-FFF2-40B4-BE49-F238E27FC236}">
                <a16:creationId xmlns:a16="http://schemas.microsoft.com/office/drawing/2014/main" id="{9EE823B2-E39F-4FE2-9A60-781BCE989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7815" y="4281928"/>
            <a:ext cx="1868217" cy="210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A5B905-3B6A-48B0-830C-076B3150FF7D}"/>
              </a:ext>
            </a:extLst>
          </p:cNvPr>
          <p:cNvSpPr txBox="1"/>
          <p:nvPr/>
        </p:nvSpPr>
        <p:spPr>
          <a:xfrm>
            <a:off x="7022237" y="6016870"/>
            <a:ext cx="1802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Photographies personnelles  – novembre / décembre 2024</a:t>
            </a:r>
          </a:p>
        </p:txBody>
      </p:sp>
      <p:pic>
        <p:nvPicPr>
          <p:cNvPr id="10" name="Picture 2" descr="CY Cergy Paris Université – DAEU">
            <a:extLst>
              <a:ext uri="{FF2B5EF4-FFF2-40B4-BE49-F238E27FC236}">
                <a16:creationId xmlns:a16="http://schemas.microsoft.com/office/drawing/2014/main" id="{57AD823C-07E5-45BE-BDB5-7014CBD6A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8701C23B-A09E-4E6C-B547-EB6EDB8B7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379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00841B56-600A-49CB-B89A-BEB00748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51" y="238208"/>
            <a:ext cx="10515600" cy="664685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Synthèse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7FE892F-7699-4D68-9B17-4F7D1BBFA25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985" y="250728"/>
            <a:ext cx="4467465" cy="635654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DBF2495-2D94-4225-9030-6A4A6C00FDB0}"/>
              </a:ext>
            </a:extLst>
          </p:cNvPr>
          <p:cNvSpPr txBox="1"/>
          <p:nvPr/>
        </p:nvSpPr>
        <p:spPr>
          <a:xfrm>
            <a:off x="341051" y="1403139"/>
            <a:ext cx="4455286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Fortes différences entre Est et Ouest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b="1" dirty="0"/>
              <a:t>Est</a:t>
            </a:r>
            <a:r>
              <a:rPr lang="fr-FR" sz="1400" dirty="0"/>
              <a:t>. des éléments appréciés 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1400" dirty="0"/>
              <a:t>Largeur des trottoirs,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1400" dirty="0"/>
              <a:t>Parc,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1400" dirty="0"/>
              <a:t>Verdure,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1400" dirty="0"/>
              <a:t>Quelques devanture d’enseignes</a:t>
            </a:r>
          </a:p>
          <a:p>
            <a:pPr lvl="2"/>
            <a:endParaRPr lang="fr-FR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b="1" dirty="0"/>
              <a:t>Ouest</a:t>
            </a:r>
            <a:r>
              <a:rPr lang="fr-FR" sz="1400" dirty="0"/>
              <a:t>. plutôt des éléments perçus négativement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1400" dirty="0"/>
              <a:t>Continuité des trottoirs entravée (parkings, grillages)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1400" dirty="0"/>
              <a:t>Bruyant 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fr-FR" sz="1400" dirty="0"/>
              <a:t>Fort manque de passages piétons et feux rouges</a:t>
            </a:r>
          </a:p>
          <a:p>
            <a:pPr lvl="2"/>
            <a:endParaRPr lang="fr-F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Globalement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Les publicités et logos sont la plupart du temps perçus comme de la « pollution visuelle »</a:t>
            </a:r>
          </a:p>
          <a:p>
            <a:pPr lvl="1"/>
            <a:endParaRPr lang="fr-FR" sz="1400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sz="1400" dirty="0"/>
              <a:t>Manque de passages piétons et feux rouges</a:t>
            </a:r>
          </a:p>
          <a:p>
            <a:pPr lvl="2"/>
            <a:endParaRPr lang="fr-FR" sz="1400" dirty="0"/>
          </a:p>
          <a:p>
            <a:pPr lvl="2"/>
            <a:endParaRPr lang="fr-FR" sz="1400" dirty="0"/>
          </a:p>
        </p:txBody>
      </p:sp>
      <p:pic>
        <p:nvPicPr>
          <p:cNvPr id="7" name="Picture 2" descr="CY Cergy Paris Université – DAEU">
            <a:extLst>
              <a:ext uri="{FF2B5EF4-FFF2-40B4-BE49-F238E27FC236}">
                <a16:creationId xmlns:a16="http://schemas.microsoft.com/office/drawing/2014/main" id="{88A41F4D-1D71-458A-9C00-958FDFF3A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A38187D4-3FDA-40D4-8FEF-32ECD79ED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780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Y Cergy Paris Université – DAEU">
            <a:extLst>
              <a:ext uri="{FF2B5EF4-FFF2-40B4-BE49-F238E27FC236}">
                <a16:creationId xmlns:a16="http://schemas.microsoft.com/office/drawing/2014/main" id="{B1A41C28-D97C-4A30-B80D-8A6D696FE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6951" y="159699"/>
            <a:ext cx="1233698" cy="41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459EE9C1-42F8-4F38-8062-7CFC92788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73" y="1685268"/>
            <a:ext cx="7373644" cy="1528449"/>
          </a:xfrm>
        </p:spPr>
        <p:txBody>
          <a:bodyPr>
            <a:normAutofit/>
          </a:bodyPr>
          <a:lstStyle/>
          <a:p>
            <a:r>
              <a:rPr lang="fr-FR" dirty="0">
                <a:latin typeface="Cooper Black" panose="0208090404030B020404" pitchFamily="18" charset="0"/>
              </a:rPr>
              <a:t>Merci pour votre écoute !</a:t>
            </a:r>
          </a:p>
        </p:txBody>
      </p:sp>
      <p:pic>
        <p:nvPicPr>
          <p:cNvPr id="7" name="Picture 2" descr="Master Géomatique appliquée aux études urbaines &amp; aux risques | LinkedIn">
            <a:extLst>
              <a:ext uri="{FF2B5EF4-FFF2-40B4-BE49-F238E27FC236}">
                <a16:creationId xmlns:a16="http://schemas.microsoft.com/office/drawing/2014/main" id="{390E4EDE-B1B0-4584-896E-2647F6012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171" y="129201"/>
            <a:ext cx="471847" cy="47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4181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2367</Words>
  <Application>Microsoft Office PowerPoint</Application>
  <PresentationFormat>Grand écran</PresentationFormat>
  <Paragraphs>243</Paragraphs>
  <Slides>19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Cooper Black</vt:lpstr>
      <vt:lpstr>Courier New</vt:lpstr>
      <vt:lpstr>Times New Roman</vt:lpstr>
      <vt:lpstr>Wingdings</vt:lpstr>
      <vt:lpstr>Thème Office</vt:lpstr>
      <vt:lpstr>Présentation PowerPoint</vt:lpstr>
      <vt:lpstr>Présentation</vt:lpstr>
      <vt:lpstr>Contexte de l’enquête</vt:lpstr>
      <vt:lpstr>Présentation PowerPoint</vt:lpstr>
      <vt:lpstr>Méthodes : le questionnaire</vt:lpstr>
      <vt:lpstr>Présentation PowerPoint</vt:lpstr>
      <vt:lpstr>Résultats du questionnaire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Synthèse</vt:lpstr>
      <vt:lpstr>Merci pour votre écoute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Léontine Grillon</dc:creator>
  <cp:lastModifiedBy>Leontine Grillon</cp:lastModifiedBy>
  <cp:revision>70</cp:revision>
  <dcterms:created xsi:type="dcterms:W3CDTF">2025-11-11T15:52:39Z</dcterms:created>
  <dcterms:modified xsi:type="dcterms:W3CDTF">2025-11-20T17:24:01Z</dcterms:modified>
</cp:coreProperties>
</file>